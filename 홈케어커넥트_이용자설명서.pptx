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006A63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홈케어커넥트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0F1E8"/>
                </a:solidFill>
              </a:defRPr>
            </a:pPr>
            <a:r>
              <a:t>AI 기반 방문치료 매칭 &amp; 운영 플랫폼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8C5D6"/>
                </a:solidFill>
              </a:defRPr>
            </a:pPr>
            <a:r>
              <a:t>이용자 설명서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90A0"/>
                </a:solidFill>
              </a:defRPr>
            </a:pPr>
            <a:r>
              <a:t>주식회사 루미브리즈  |  2026년 3월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2045"/>
                </a:solidFill>
              </a:defRPr>
            </a:pPr>
            <a:r>
              <a:t>목차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828800"/>
            <a:ext cx="914400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9019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2045"/>
                </a:solidFill>
              </a:defRPr>
            </a:pPr>
            <a:r>
              <a:t>1.  홈케어커넥트란?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423160"/>
            <a:ext cx="9144000" cy="50292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49631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2045"/>
                </a:solidFill>
              </a:defRPr>
            </a:pPr>
            <a:r>
              <a:t>2.  보호자(환자) — 이렇게 사용하세요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017520"/>
            <a:ext cx="914400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309067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2045"/>
                </a:solidFill>
              </a:defRPr>
            </a:pPr>
            <a:r>
              <a:t>3.  간호사 — 이렇게 사용하세요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3611880"/>
            <a:ext cx="9144000" cy="50292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368503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2045"/>
                </a:solidFill>
              </a:defRPr>
            </a:pPr>
            <a:r>
              <a:t>4.  병원/기관 관리자 — 이렇게 사용하세요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4206240"/>
            <a:ext cx="914400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427939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2045"/>
                </a:solidFill>
              </a:defRPr>
            </a:pPr>
            <a:r>
              <a:t>5.  AI 돌봄 도우미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4800600"/>
            <a:ext cx="9144000" cy="50292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48737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2045"/>
                </a:solidFill>
              </a:defRPr>
            </a:pPr>
            <a:r>
              <a:t>6.  스마트 복약 관리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5394960"/>
            <a:ext cx="914400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546811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2045"/>
                </a:solidFill>
              </a:defRPr>
            </a:pPr>
            <a:r>
              <a:t>7.  자주 묻는 질문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2045"/>
                </a:solidFill>
              </a:defRPr>
            </a:pPr>
            <a:r>
              <a:t>1. 홈케어커넥트란?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554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280"/>
                </a:solidFill>
              </a:defRPr>
            </a:pPr>
            <a:r>
              <a:t>AI 기반 방문치료 매칭 &amp; 운영 SaaS 플랫폼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560320"/>
            <a:ext cx="22860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181C1E"/>
                </a:solidFill>
              </a:defRPr>
            </a:pPr>
            <a:r>
              <a:t>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045"/>
                </a:solidFill>
              </a:defRPr>
            </a:pPr>
            <a:r>
              <a:t>AI 기관 매칭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749039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지역·전문성 기반</a:t>
            </a:r>
            <a:br/>
            <a:r>
              <a:t>최적 기관 자동 추천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2560320"/>
            <a:ext cx="22860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181C1E"/>
                </a:solidFill>
              </a:defRPr>
            </a:pPr>
            <a:r>
              <a:t>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045"/>
                </a:solidFill>
              </a:defRPr>
            </a:pPr>
            <a:r>
              <a:t>건강 모니터링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3749039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바이탈 추적 +</a:t>
            </a:r>
            <a:br/>
            <a:r>
              <a:t>AI 이상징후 감지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560320"/>
            <a:ext cx="22860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181C1E"/>
                </a:solidFill>
              </a:defRPr>
            </a:pPr>
            <a:r>
              <a:t>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045"/>
                </a:solidFill>
              </a:defRPr>
            </a:pPr>
            <a:r>
              <a:t>스마트 복약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749039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자동 알림 +</a:t>
            </a:r>
            <a:br/>
            <a:r>
              <a:t>AI 복약지도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59" y="2560320"/>
            <a:ext cx="22860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79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181C1E"/>
                </a:solidFill>
              </a:defRPr>
            </a:pPr>
            <a:r>
              <a:t>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79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045"/>
                </a:solidFill>
              </a:defRPr>
            </a:pPr>
            <a:r>
              <a:t>AI 돌봄 도우미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79" y="3749039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음성 대화로</a:t>
            </a:r>
            <a:br/>
            <a:r>
              <a:t>건강 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303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</a:defRPr>
            </a:pPr>
            <a:r>
              <a:t>보호자, 간호사, 병원, 플랫폼 관리자 — 4가지 역할을 하나의 앱에서 모두 지원합니다.</a:t>
            </a:r>
            <a:br/>
            <a:r>
              <a:t>로그인하면 역할에 맞는 화면이 자동으로 표시됩니다.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4114800" cy="6858000"/>
          </a:xfrm>
          <a:prstGeom prst="roundRect">
            <a:avLst/>
          </a:prstGeom>
          <a:solidFill>
            <a:srgbClr val="002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F1E8"/>
                </a:solidFill>
              </a:defRPr>
            </a:pPr>
            <a:r>
              <a:t>보호자/환자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이렇게</a:t>
            </a:r>
            <a:br/>
            <a:r>
              <a:t>사용하세요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8C5D6"/>
                </a:solidFill>
              </a:defRPr>
            </a:pPr>
            <a:r>
              <a:t>어르신의 건강을</a:t>
            </a:r>
            <a:br/>
            <a:r>
              <a:t>AI가 24시간 모니터링</a:t>
            </a:r>
            <a:br/>
            <a:r>
              <a:t>하고 최적의 방문치료</a:t>
            </a:r>
            <a:br/>
            <a:r>
              <a:t>기관을 매칭해드립니다.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640080"/>
            <a:ext cx="7132320" cy="640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685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A63"/>
                </a:solidFill>
              </a:defRPr>
            </a:pPr>
            <a:r>
              <a:t>▸ 홈 대시보드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96012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오늘의 방문 일정, 건강 점수, 케어 타임라인을 한눈에 확인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371600"/>
            <a:ext cx="7132320" cy="640080"/>
          </a:xfrm>
          <a:prstGeom prst="roundRect">
            <a:avLst>
              <a:gd name="adj" fmla="val 3000"/>
            </a:avLst>
          </a:prstGeom>
          <a:solidFill>
            <a:srgbClr val="F1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417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A63"/>
                </a:solidFill>
              </a:defRPr>
            </a:pPr>
            <a:r>
              <a:t>▸ AI 기관 매칭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69164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지역·서비스·시간 선택 → AI가 최적 기관 3곳 추천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103120"/>
            <a:ext cx="7132320" cy="640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2148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A63"/>
                </a:solidFill>
              </a:defRPr>
            </a:pPr>
            <a:r>
              <a:t>▸ 방문 일정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42316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주간/월간 캘린더로 방문 스케줄 관리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2834640"/>
            <a:ext cx="7132320" cy="640080"/>
          </a:xfrm>
          <a:prstGeom prst="roundRect">
            <a:avLst>
              <a:gd name="adj" fmla="val 3000"/>
            </a:avLst>
          </a:prstGeom>
          <a:solidFill>
            <a:srgbClr val="F1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2880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A63"/>
                </a:solidFill>
              </a:defRPr>
            </a:pPr>
            <a:r>
              <a:t>▸ 방문 기록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15468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바이탈 추이 차트 + 간호 노트 + 수행 내역 확인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566160"/>
            <a:ext cx="7132320" cy="640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36118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A63"/>
                </a:solidFill>
              </a:defRPr>
            </a:pPr>
            <a:r>
              <a:t>▸ 환자 등록/관리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88620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어르신 정보 등록, 요양등급, 진단명, 필요 서비스 설정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4297680"/>
            <a:ext cx="7132320" cy="640080"/>
          </a:xfrm>
          <a:prstGeom prst="roundRect">
            <a:avLst>
              <a:gd name="adj" fmla="val 3000"/>
            </a:avLst>
          </a:prstGeom>
          <a:solidFill>
            <a:srgbClr val="F1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4343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A63"/>
                </a:solidFill>
              </a:defRPr>
            </a:pPr>
            <a:r>
              <a:t>▸ AI 리포트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461772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AI가 분석한 주간 건강 리포트 + 의사 소견 확인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5029200"/>
            <a:ext cx="7132320" cy="640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5074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A63"/>
                </a:solidFill>
              </a:defRPr>
            </a:pPr>
            <a:r>
              <a:t>▸ 리뷰 작성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534924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이용한 기관에 별점 + 세부 평가 작성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5760720"/>
            <a:ext cx="7132320" cy="640080"/>
          </a:xfrm>
          <a:prstGeom prst="roundRect">
            <a:avLst>
              <a:gd name="adj" fmla="val 3000"/>
            </a:avLst>
          </a:prstGeom>
          <a:solidFill>
            <a:srgbClr val="F1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5806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A63"/>
                </a:solidFill>
              </a:defRPr>
            </a:pPr>
            <a:r>
              <a:t>▸ 알림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608076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방문 알림, 매칭 결과, 레드플래그 경고 수신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2045"/>
                </a:solidFill>
              </a:defRPr>
            </a:pPr>
            <a:r>
              <a:t>보호자 — 처음 사용하기</a:t>
            </a:r>
          </a:p>
        </p:txBody>
      </p:sp>
      <p:sp>
        <p:nvSpPr>
          <p:cNvPr id="3" name="Oval 2"/>
          <p:cNvSpPr/>
          <p:nvPr/>
        </p:nvSpPr>
        <p:spPr>
          <a:xfrm>
            <a:off x="1828800" y="2011680"/>
            <a:ext cx="548640" cy="548640"/>
          </a:xfrm>
          <a:prstGeom prst="ellipse">
            <a:avLst/>
          </a:prstGeom>
          <a:solidFill>
            <a:srgbClr val="006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057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B7280"/>
                </a:solidFill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926080"/>
            <a:ext cx="237744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2045"/>
                </a:solidFill>
              </a:defRPr>
            </a:pPr>
            <a:r>
              <a:t>회원가입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56616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앱 실행 → [시작하기] → 회원가입</a:t>
            </a:r>
            <a:br/>
            <a:r>
              <a:t>이름, 전화번호, 이메일 입력</a:t>
            </a:r>
            <a:br/>
            <a:r>
              <a:t>역할: "보호자" 선택</a:t>
            </a:r>
          </a:p>
        </p:txBody>
      </p:sp>
      <p:sp>
        <p:nvSpPr>
          <p:cNvPr id="9" name="Oval 8"/>
          <p:cNvSpPr/>
          <p:nvPr/>
        </p:nvSpPr>
        <p:spPr>
          <a:xfrm>
            <a:off x="4480559" y="2011680"/>
            <a:ext cx="548640" cy="548640"/>
          </a:xfrm>
          <a:prstGeom prst="ellipse">
            <a:avLst/>
          </a:prstGeom>
          <a:solidFill>
            <a:srgbClr val="006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59" y="2057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59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B7280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39" y="2926080"/>
            <a:ext cx="237744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59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2045"/>
                </a:solidFill>
              </a:defRPr>
            </a:pPr>
            <a:r>
              <a:t>환자 등록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356616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마이페이지 → 환자 관리 → 등록</a:t>
            </a:r>
            <a:br/>
            <a:r>
              <a:t>어르신 이름, 생년월일, 성별</a:t>
            </a:r>
            <a:br/>
            <a:r>
              <a:t>요양등급, 주소, 필요 서비스 입력</a:t>
            </a:r>
          </a:p>
        </p:txBody>
      </p:sp>
      <p:sp>
        <p:nvSpPr>
          <p:cNvPr id="15" name="Oval 14"/>
          <p:cNvSpPr/>
          <p:nvPr/>
        </p:nvSpPr>
        <p:spPr>
          <a:xfrm>
            <a:off x="7132320" y="2011680"/>
            <a:ext cx="548640" cy="548640"/>
          </a:xfrm>
          <a:prstGeom prst="ellipse">
            <a:avLst/>
          </a:prstGeom>
          <a:solidFill>
            <a:srgbClr val="006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2057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B7280"/>
                </a:solidFill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926080"/>
            <a:ext cx="237744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2045"/>
                </a:solidFill>
              </a:defRPr>
            </a:pPr>
            <a:r>
              <a:t>기관 매칭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56616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매칭 탭 → [매칭 시작하기]</a:t>
            </a:r>
            <a:br/>
            <a:r>
              <a:t>서비스, 지역, 시간 선택</a:t>
            </a:r>
            <a:br/>
            <a:r>
              <a:t>AI가 3곳 추천 → 기관 선택</a:t>
            </a:r>
          </a:p>
        </p:txBody>
      </p:sp>
      <p:sp>
        <p:nvSpPr>
          <p:cNvPr id="21" name="Oval 20"/>
          <p:cNvSpPr/>
          <p:nvPr/>
        </p:nvSpPr>
        <p:spPr>
          <a:xfrm>
            <a:off x="9784079" y="2011680"/>
            <a:ext cx="548640" cy="548640"/>
          </a:xfrm>
          <a:prstGeom prst="ellipse">
            <a:avLst/>
          </a:prstGeom>
          <a:solidFill>
            <a:srgbClr val="006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79" y="2057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2559" y="2926080"/>
            <a:ext cx="237744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79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2045"/>
                </a:solidFill>
              </a:defRPr>
            </a:pPr>
            <a:r>
              <a:t>일정 확인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79" y="356616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일정 탭에서 방문 스케줄 확인</a:t>
            </a:r>
            <a:br/>
            <a:r>
              <a:t>방문 당일 푸시 알림 수신</a:t>
            </a:r>
            <a:br/>
            <a:r>
              <a:t>방문 완료 후 기록 확인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4114800" cy="6858000"/>
          </a:xfrm>
          <a:prstGeom prst="roundRect">
            <a:avLst/>
          </a:prstGeom>
          <a:solidFill>
            <a:srgbClr val="006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F1E8"/>
                </a:solidFill>
              </a:defRPr>
            </a:pPr>
            <a:r>
              <a:t>간호사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이렇게</a:t>
            </a:r>
            <a:br/>
            <a:r>
              <a:t>사용하세요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0FFF8"/>
                </a:solidFill>
              </a:defRPr>
            </a:pPr>
            <a:r>
              <a:t>오늘의 방문 일정부터</a:t>
            </a:r>
            <a:br/>
            <a:r>
              <a:t>바이탈 기록, 레드플래그</a:t>
            </a:r>
            <a:br/>
            <a:r>
              <a:t>알림까지 — 현장 업무를</a:t>
            </a:r>
            <a:br/>
            <a:r>
              <a:t>스마트하게 관리합니다.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640080"/>
            <a:ext cx="7132320" cy="731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685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A63"/>
                </a:solidFill>
              </a:defRPr>
            </a:pPr>
            <a:r>
              <a:t>▸ 오늘 일정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987552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LIVE 방문 카드 + 남은 방문 리스트 + 실시간 환자 바이탈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463040"/>
            <a:ext cx="7132320" cy="731520"/>
          </a:xfrm>
          <a:prstGeom prst="roundRect">
            <a:avLst>
              <a:gd name="adj" fmla="val 3000"/>
            </a:avLst>
          </a:prstGeom>
          <a:solidFill>
            <a:srgbClr val="F1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508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A63"/>
                </a:solidFill>
              </a:defRPr>
            </a:pPr>
            <a:r>
              <a:t>▸ 방문 수행 (5단계)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810512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① 체크인(GPS) → ② 바이탈 입력 → ③ 수행 체크 → ④ 메모/사진/음성 → ⑤ 체크아웃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286000"/>
            <a:ext cx="7132320" cy="731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2331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A63"/>
                </a:solidFill>
              </a:defRPr>
            </a:pPr>
            <a:r>
              <a:t>▸ 담당 환자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633472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환자별 바이탈 추이, 처방약, 컨디션 체크 기록 확인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3108960"/>
            <a:ext cx="7132320" cy="731520"/>
          </a:xfrm>
          <a:prstGeom prst="roundRect">
            <a:avLst>
              <a:gd name="adj" fmla="val 3000"/>
            </a:avLst>
          </a:prstGeom>
          <a:solidFill>
            <a:srgbClr val="F1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3154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A63"/>
                </a:solidFill>
              </a:defRPr>
            </a:pPr>
            <a:r>
              <a:t>▸ 레드플래그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456432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AI가 감지한 이상징후 알림 — 심각도별 색상 (빨강/주황/노랑)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931920"/>
            <a:ext cx="7132320" cy="731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3977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A63"/>
                </a:solidFill>
              </a:defRPr>
            </a:pPr>
            <a:r>
              <a:t>▸ AI 어시스턴트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4279392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"오늘 브리핑 해줘" → 전체 일정 + 주의환자 요약 음성 안내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4754880"/>
            <a:ext cx="7132320" cy="731520"/>
          </a:xfrm>
          <a:prstGeom prst="roundRect">
            <a:avLst>
              <a:gd name="adj" fmla="val 3000"/>
            </a:avLst>
          </a:prstGeom>
          <a:solidFill>
            <a:srgbClr val="F1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4800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A63"/>
                </a:solidFill>
              </a:defRPr>
            </a:pPr>
            <a:r>
              <a:t>▸ 월간 통계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5102352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방문 횟수, 완료율, 총 시간, 평균 시간 통계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5577840"/>
            <a:ext cx="7132320" cy="731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5623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A63"/>
                </a:solidFill>
              </a:defRPr>
            </a:pPr>
            <a:r>
              <a:t>▸ 오프라인 모드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5925312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인터넷 없는 곳에서도 기록 → 온라인 복귀 시 자동 동기화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2045"/>
                </a:solidFill>
              </a:defRPr>
            </a:pPr>
            <a:r>
              <a:t>간호사 — 방문 수행 5단계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554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</a:defRPr>
            </a:pPr>
            <a:r>
              <a:t>환자 방문 시 아래 순서로 기록합니다. 각 단계는 앱에서 안내됩니다.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2743200"/>
            <a:ext cx="457200" cy="36576"/>
          </a:xfrm>
          <a:prstGeom prst="rect">
            <a:avLst/>
          </a:prstGeom>
          <a:solidFill>
            <a:srgbClr val="006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2011680" cy="3200400"/>
          </a:xfrm>
          <a:prstGeom prst="roundRect">
            <a:avLst>
              <a:gd name="adj" fmla="val 6000"/>
            </a:avLst>
          </a:prstGeom>
          <a:solidFill>
            <a:srgbClr val="006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① 체크인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1645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0FFF8"/>
                </a:solidFill>
              </a:defRPr>
            </a:pPr>
            <a:r>
              <a:t>GPS 자동 인식</a:t>
            </a:r>
            <a:br/>
            <a:r>
              <a:t>도착 시간 기록</a:t>
            </a:r>
            <a:br/>
            <a:r>
              <a:t>위치 확인 후 [체크인]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2743200"/>
            <a:ext cx="457200" cy="36576"/>
          </a:xfrm>
          <a:prstGeom prst="rect">
            <a:avLst/>
          </a:prstGeom>
          <a:solidFill>
            <a:srgbClr val="006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17520" y="2286000"/>
            <a:ext cx="201168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24688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2045"/>
                </a:solidFill>
              </a:defRPr>
            </a:pPr>
            <a:r>
              <a:t>② 바이탈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108960"/>
            <a:ext cx="1645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혈압, 심박, 체온</a:t>
            </a:r>
            <a:br/>
            <a:r>
              <a:t>혈당, 산소포화도</a:t>
            </a:r>
            <a:br/>
            <a:r>
              <a:t>정상/경고 자동 표시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743200"/>
            <a:ext cx="457200" cy="36576"/>
          </a:xfrm>
          <a:prstGeom prst="rect">
            <a:avLst/>
          </a:prstGeom>
          <a:solidFill>
            <a:srgbClr val="006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303520" y="2286000"/>
            <a:ext cx="201168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0" y="24688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2045"/>
                </a:solidFill>
              </a:defRPr>
            </a:pPr>
            <a:r>
              <a:t>③ 수행 체크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3108960"/>
            <a:ext cx="1645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계획된 케어 항목</a:t>
            </a:r>
            <a:br/>
            <a:r>
              <a:t>체크리스트로 확인</a:t>
            </a:r>
            <a:br/>
            <a:r>
              <a:t>전체 선택 가능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0" y="2743200"/>
            <a:ext cx="457200" cy="36576"/>
          </a:xfrm>
          <a:prstGeom prst="rect">
            <a:avLst/>
          </a:prstGeom>
          <a:solidFill>
            <a:srgbClr val="006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589520" y="2286000"/>
            <a:ext cx="201168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4688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2045"/>
                </a:solidFill>
              </a:defRPr>
            </a:pPr>
            <a:r>
              <a:t>④ 메모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108960"/>
            <a:ext cx="1645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간호 노트 작성</a:t>
            </a:r>
            <a:br/>
            <a:r>
              <a:t>사진 촬영, 음성 메모</a:t>
            </a:r>
            <a:br/>
            <a:r>
              <a:t>보호자 메시지 입력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75520" y="2286000"/>
            <a:ext cx="2011680" cy="3200400"/>
          </a:xfrm>
          <a:prstGeom prst="roundRect">
            <a:avLst>
              <a:gd name="adj" fmla="val 6000"/>
            </a:avLst>
          </a:prstGeom>
          <a:solidFill>
            <a:srgbClr val="006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0" y="24688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⑤ 체크아웃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3108960"/>
            <a:ext cx="1645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0FFF8"/>
                </a:solidFill>
              </a:defRPr>
            </a:pPr>
            <a:r>
              <a:t>방문 요약 확인</a:t>
            </a:r>
            <a:br/>
            <a:r>
              <a:t>소요 시간 자동 계산</a:t>
            </a:r>
            <a:br/>
            <a:r>
              <a:t>[완료] → AI 분석 시작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4114800" cy="6858000"/>
          </a:xfrm>
          <a:prstGeom prst="roundRect">
            <a:avLst/>
          </a:prstGeom>
          <a:solidFill>
            <a:srgbClr val="321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E0B2"/>
                </a:solidFill>
              </a:defRPr>
            </a:pPr>
            <a:r>
              <a:t>병원/기관 관리자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이렇게</a:t>
            </a:r>
            <a:br/>
            <a:r>
              <a:t>사용하세요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E0B2"/>
                </a:solidFill>
              </a:defRPr>
            </a:pPr>
            <a:r>
              <a:t>환자 관리, 직원 배정,</a:t>
            </a:r>
            <a:br/>
            <a:r>
              <a:t>일정, 통계, 수납,</a:t>
            </a:r>
            <a:br/>
            <a:r>
              <a:t>건보 청구까지 —</a:t>
            </a:r>
            <a:br/>
            <a:r>
              <a:t>기관 운영을 한 곳에서.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457200"/>
            <a:ext cx="7132320" cy="685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502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21B00"/>
                </a:solidFill>
              </a:defRPr>
            </a:pPr>
            <a:r>
              <a:t>▸ 대시보드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804672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오늘의 KPI (대기/진행/완료), 레드플래그, 최근 요청, 방문 일정 요약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234440"/>
            <a:ext cx="7132320" cy="685800"/>
          </a:xfrm>
          <a:prstGeom prst="roundRect">
            <a:avLst>
              <a:gd name="adj" fmla="val 3000"/>
            </a:avLst>
          </a:prstGeom>
          <a:solidFill>
            <a:srgbClr val="F1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2801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21B00"/>
                </a:solidFill>
              </a:defRPr>
            </a:pPr>
            <a:r>
              <a:t>▸ 환자 관리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581912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소속 환자 검색/필터, 상세 정보, 바이탈 이력, 서비스 플랜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011680"/>
            <a:ext cx="7132320" cy="685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2057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21B00"/>
                </a:solidFill>
              </a:defRPr>
            </a:pPr>
            <a:r>
              <a:t>▸ 직원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359152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간호사/치료사 목록, 직원 초대(이메일), 담당 환자 배정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2788920"/>
            <a:ext cx="7132320" cy="685800"/>
          </a:xfrm>
          <a:prstGeom prst="roundRect">
            <a:avLst>
              <a:gd name="adj" fmla="val 3000"/>
            </a:avLst>
          </a:prstGeom>
          <a:solidFill>
            <a:srgbClr val="F1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2834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21B00"/>
                </a:solidFill>
              </a:defRPr>
            </a:pPr>
            <a:r>
              <a:t>▸ 일정 관리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136392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전체 직원 방문 일정 캘린더, 날짜별 상세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566160"/>
            <a:ext cx="7132320" cy="685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36118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21B00"/>
                </a:solidFill>
              </a:defRPr>
            </a:pPr>
            <a:r>
              <a:t>▸ 서비스 요청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913632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보호자 매칭 요청 수신 → [수락]/[거절] → 간호사 배정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4343400"/>
            <a:ext cx="7132320" cy="685800"/>
          </a:xfrm>
          <a:prstGeom prst="roundRect">
            <a:avLst>
              <a:gd name="adj" fmla="val 3000"/>
            </a:avLst>
          </a:prstGeom>
          <a:solidFill>
            <a:srgbClr val="F1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43891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21B00"/>
                </a:solidFill>
              </a:defRPr>
            </a:pPr>
            <a:r>
              <a:t>▸ 의사 방문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4690872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소견 입력 → AI가 어르신 눈높이로 자동 변환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5120640"/>
            <a:ext cx="7132320" cy="685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5166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21B00"/>
                </a:solidFill>
              </a:defRPr>
            </a:pPr>
            <a:r>
              <a:t>▸ 수납/건보청구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5468112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수납 현황 관리, 건강보험 청구 자료 조회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5897880"/>
            <a:ext cx="7132320" cy="685800"/>
          </a:xfrm>
          <a:prstGeom prst="roundRect">
            <a:avLst>
              <a:gd name="adj" fmla="val 3000"/>
            </a:avLst>
          </a:prstGeom>
          <a:solidFill>
            <a:srgbClr val="F1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5943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21B00"/>
                </a:solidFill>
              </a:defRPr>
            </a:pPr>
            <a:r>
              <a:t>▸ 통계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6245352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월별 방문수, 완료율, 총 시간, 매출 현황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2045"/>
                </a:solidFill>
              </a:defRPr>
            </a:pPr>
            <a:r>
              <a:t>5. AI 돌봄 도우미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554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280"/>
                </a:solidFill>
              </a:defRPr>
            </a:pPr>
            <a:r>
              <a:t>어르신과 간호사를 위한 AI 대화 비서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502920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468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2045"/>
                </a:solidFill>
              </a:defRPr>
            </a:pPr>
            <a:r>
              <a:t>💬 보호자/환자 도우미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017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A63"/>
                </a:solidFill>
              </a:defRPr>
            </a:pPr>
            <a:r>
              <a:t>다정한 동네 간호사 페르소나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4747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6B7280"/>
                </a:solidFill>
              </a:defRPr>
            </a:pPr>
            <a:r>
              <a:t>• "오늘 일정 알려줘" → 방문 스케줄 음성 안내</a:t>
            </a:r>
          </a:p>
          <a:p>
            <a:pPr>
              <a:spcAft>
                <a:spcPts val="800"/>
              </a:spcAft>
              <a:defRPr sz="1400">
                <a:solidFill>
                  <a:srgbClr val="6B7280"/>
                </a:solidFill>
              </a:defRPr>
            </a:pPr>
            <a:r>
              <a:t>• "약 먹을 시간이야?" → 복약 스케줄 확인</a:t>
            </a:r>
          </a:p>
          <a:p>
            <a:pPr>
              <a:spcAft>
                <a:spcPts val="800"/>
              </a:spcAft>
              <a:defRPr sz="1400">
                <a:solidFill>
                  <a:srgbClr val="6B7280"/>
                </a:solidFill>
              </a:defRPr>
            </a:pPr>
            <a:r>
              <a:t>• "몸이 안 좋아요" → 컨디션 체크 + 필요 시 간호사 알림</a:t>
            </a:r>
          </a:p>
          <a:p>
            <a:pPr>
              <a:spcAft>
                <a:spcPts val="800"/>
              </a:spcAft>
              <a:defRPr sz="1400">
                <a:solidFill>
                  <a:srgbClr val="6B7280"/>
                </a:solidFill>
              </a:defRPr>
            </a:pPr>
            <a:r>
              <a:t>• 식사 사진 → AI 영양 분석 (단백질 섭취 강조)</a:t>
            </a:r>
          </a:p>
          <a:p>
            <a:pPr>
              <a:spcAft>
                <a:spcPts val="800"/>
              </a:spcAft>
              <a:defRPr sz="1400">
                <a:solidFill>
                  <a:srgbClr val="6B7280"/>
                </a:solidFill>
              </a:defRPr>
            </a:pPr>
            <a:r>
              <a:t>• 마이크 버튼으로 음성 대화 (어르신 친화)</a:t>
            </a:r>
          </a:p>
          <a:p>
            <a:pPr>
              <a:spcAft>
                <a:spcPts val="800"/>
              </a:spcAft>
              <a:defRPr sz="1400">
                <a:solidFill>
                  <a:srgbClr val="6B7280"/>
                </a:solidFill>
              </a:defRPr>
            </a:pPr>
            <a:r>
              <a:t>• 큰 글씨(18px) + TTS 읽어주기 기능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286000"/>
            <a:ext cx="502920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468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2045"/>
                </a:solidFill>
              </a:defRPr>
            </a:pPr>
            <a:r>
              <a:t>🩺 간호사 어시스턴트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3017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A63"/>
                </a:solidFill>
              </a:defRPr>
            </a:pPr>
            <a:r>
              <a:t>간결한 업무 브리핑 비서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4747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6B7280"/>
                </a:solidFill>
              </a:defRPr>
            </a:pPr>
            <a:r>
              <a:t>• "오늘 브리핑 해줘" → 전체 일정 + 주의환자 요약</a:t>
            </a:r>
          </a:p>
          <a:p>
            <a:pPr>
              <a:spcAft>
                <a:spcPts val="800"/>
              </a:spcAft>
              <a:defRPr sz="1400">
                <a:solidFill>
                  <a:srgbClr val="6B7280"/>
                </a:solidFill>
              </a:defRPr>
            </a:pPr>
            <a:r>
              <a:t>• "다음 환자 알려줘" → 이동 중 음성 브리핑</a:t>
            </a:r>
          </a:p>
          <a:p>
            <a:pPr>
              <a:spcAft>
                <a:spcPts val="800"/>
              </a:spcAft>
              <a:defRPr sz="1400">
                <a:solidFill>
                  <a:srgbClr val="6B7280"/>
                </a:solidFill>
              </a:defRPr>
            </a:pPr>
            <a:r>
              <a:t>• "주의 환자 있어?" → 레드플래그 + 복약 미이행 확인</a:t>
            </a:r>
          </a:p>
          <a:p>
            <a:pPr>
              <a:spcAft>
                <a:spcPts val="800"/>
              </a:spcAft>
              <a:defRPr sz="1400">
                <a:solidFill>
                  <a:srgbClr val="6B7280"/>
                </a:solidFill>
              </a:defRPr>
            </a:pPr>
            <a:r>
              <a:t>• 환자별 바이탈 트렌드 + 컨디션 체크 결과 통합</a:t>
            </a:r>
          </a:p>
          <a:p>
            <a:pPr>
              <a:spcAft>
                <a:spcPts val="800"/>
              </a:spcAft>
              <a:defRPr sz="1400">
                <a:solidFill>
                  <a:srgbClr val="6B7280"/>
                </a:solidFill>
              </a:defRPr>
            </a:pPr>
            <a:r>
              <a:t>• 처방약 변경 사항 하이라이트</a:t>
            </a:r>
          </a:p>
          <a:p>
            <a:pPr>
              <a:spcAft>
                <a:spcPts val="800"/>
              </a:spcAft>
              <a:defRPr sz="1400">
                <a:solidFill>
                  <a:srgbClr val="6B7280"/>
                </a:solidFill>
              </a:defRPr>
            </a:pPr>
            <a:r>
              <a:t>• 임상 가이드라인 RAG 검색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2045"/>
                </a:solidFill>
              </a:defRPr>
            </a:pPr>
            <a:r>
              <a:t>6. 스마트 복약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6A63"/>
                </a:solidFill>
              </a:defRPr>
            </a:pPr>
            <a:r>
              <a:t>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256032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468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045"/>
                </a:solidFill>
              </a:defRPr>
            </a:pPr>
            <a:r>
              <a:t>의사가 처방 입력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01752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병원 앱에서</a:t>
            </a:r>
            <a:br/>
            <a:r>
              <a:t>약품명, 용량, 횟수 입력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39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6A63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2286000"/>
            <a:ext cx="256032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59" y="2468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045"/>
                </a:solidFill>
              </a:defRPr>
            </a:pPr>
            <a:r>
              <a:t>AI 복약지도 생성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59" y="301752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e약은요 API 조회 +</a:t>
            </a:r>
            <a:br/>
            <a:r>
              <a:t>DUR 병용금기 체크 +</a:t>
            </a:r>
            <a:br/>
            <a:r>
              <a:t>어르신 눈높이 변환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6A63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2286000"/>
            <a:ext cx="2560320" cy="2743200"/>
          </a:xfrm>
          <a:prstGeom prst="roundRect">
            <a:avLst>
              <a:gd name="adj" fmla="val 6000"/>
            </a:avLst>
          </a:prstGeom>
          <a:solidFill>
            <a:srgbClr val="006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2468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자동 알람 발송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01752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0FFF8"/>
                </a:solidFill>
              </a:defRPr>
            </a:pPr>
            <a:r>
              <a:t>복용 시간 → 푸시 알림</a:t>
            </a:r>
            <a:br/>
            <a:r>
              <a:t>"어머님, 혈압약</a:t>
            </a:r>
            <a:br/>
            <a:r>
              <a:t>드실 시간이에요~"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20" y="2286000"/>
            <a:ext cx="256032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2468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2045"/>
                </a:solidFill>
              </a:defRPr>
            </a:pPr>
            <a:r>
              <a:t>복용 확인/미이행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3017520"/>
            <a:ext cx="2011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환자가 [복용완료] 탭</a:t>
            </a:r>
            <a:br/>
            <a:r>
              <a:t>30분 미응답 → 재알림</a:t>
            </a:r>
            <a:br/>
            <a:r>
              <a:t>60분 미응답 → 간호사 알림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486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A1A1A"/>
                </a:solidFill>
              </a:defRPr>
            </a:pPr>
            <a:r>
              <a:t>⚠️ 병용금기 발견 시 → 의사/간호사에게 자동 알림  |  모든 복약지도는 공공 API(e약은요, DUR) 근거 기반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2045"/>
                </a:solidFill>
              </a:defRPr>
            </a:pPr>
            <a:r>
              <a:t>7. 자주 묻는 질문 (FAQ)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645920"/>
            <a:ext cx="9418320" cy="731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69164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2045"/>
                </a:solidFill>
              </a:defRPr>
            </a:pPr>
            <a:r>
              <a:t>Q. 앱은 어디서 다운받나요?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01168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A. App Store(iPhone) 또는 Google Play(Android)에서 "홈케어커넥트"를 검색하세요.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468880"/>
            <a:ext cx="9418320" cy="731520"/>
          </a:xfrm>
          <a:prstGeom prst="roundRect">
            <a:avLst>
              <a:gd name="adj" fmla="val 3000"/>
            </a:avLst>
          </a:prstGeom>
          <a:solidFill>
            <a:srgbClr val="F1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5146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2045"/>
                </a:solidFill>
              </a:defRPr>
            </a:pPr>
            <a:r>
              <a:t>Q. 하나의 앱으로 모든 역할을 사용할 수 있나요?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83464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A. 네, 로그인 시 등록된 역할에 따라 자동으로 맞는 화면이 표시됩니다.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3291840"/>
            <a:ext cx="9418320" cy="731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333756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2045"/>
                </a:solidFill>
              </a:defRPr>
            </a:pPr>
            <a:r>
              <a:t>Q. AI 도우미가 의료 진단을 하나요?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65760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A. 아닙니다. AI는 건강 정보 안내와 이상징후 감지만 수행하며, 의료 판단은 반드시 담당 의료진을 따르세요.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4114800"/>
            <a:ext cx="9418320" cy="731520"/>
          </a:xfrm>
          <a:prstGeom prst="roundRect">
            <a:avLst>
              <a:gd name="adj" fmla="val 3000"/>
            </a:avLst>
          </a:prstGeom>
          <a:solidFill>
            <a:srgbClr val="F1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416052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2045"/>
                </a:solidFill>
              </a:defRPr>
            </a:pPr>
            <a:r>
              <a:t>Q. 인터넷이 안 되는 곳에서도 사용 가능한가요?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48056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A. 간호사 앱은 오프라인에서도 방문 기록이 가능합니다. 인터넷 연결 시 자동 동기화됩니다.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4937760"/>
            <a:ext cx="9418320" cy="731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498348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2045"/>
                </a:solidFill>
              </a:defRPr>
            </a:pPr>
            <a:r>
              <a:t>Q. 개인정보는 안전한가요?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530352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A. 모든 데이터는 암호화 저장되며, RLS(행 수준 보안)로 본인 + 담당자만 접근 가능합니다.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5760720"/>
            <a:ext cx="9418320" cy="731520"/>
          </a:xfrm>
          <a:prstGeom prst="roundRect">
            <a:avLst>
              <a:gd name="adj" fmla="val 3000"/>
            </a:avLst>
          </a:prstGeom>
          <a:solidFill>
            <a:srgbClr val="F1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45920" y="580644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2045"/>
                </a:solidFill>
              </a:defRPr>
            </a:pPr>
            <a:r>
              <a:t>Q. 복약 알림은 어떻게 오나요?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612648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A. 의사가 처방을 입력하면 복용 시간에 맞춰 자동으로 푸시 알림이 발송됩니다.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006A63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기술로 잇는 따뜻한 돌봄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F1E8"/>
                </a:solidFill>
              </a:defRPr>
            </a:pPr>
            <a:r>
              <a:t>홈케어커넥트와 함께 더 나은 방문치료를 경험하세요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090A0"/>
                </a:solidFill>
              </a:defRPr>
            </a:pPr>
            <a:r>
              <a:t>문의: support@lumibreeze.kr  |  www.homecareconnect.kr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120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8C5D6"/>
                </a:solidFill>
              </a:defRPr>
            </a:pPr>
            <a:r>
              <a:t>주식회사 루미브리즈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